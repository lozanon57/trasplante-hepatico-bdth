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914400"/>
            <a:ext cx="4572000" cy="4572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0" i="0">
                <a:solidFill>
                  <a:srgbClr val="FFFFFF"/>
                </a:solidFill>
              </a:rPr>
              <a:t>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La libreta mágica
de los médicos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566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E93D8"/>
                </a:solidFill>
              </a:rPr>
              <a:t>Una app que ayuda a los médicos a salvar hígados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E93D8"/>
                </a:solidFill>
              </a:rPr>
              <a:t>Hospital Gregorio Marañón · Madrid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¿Qué es el hígado? 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 i="0">
                <a:solidFill>
                  <a:srgbClr val="FFFFFF"/>
                </a:solidFill>
              </a:rPr>
              <a:t>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5544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🏭  El hígado es como la FÁBRICA de limpieza de tu cuerpo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4231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🧹  Limpia la sangre de cosas malas que comemos o bebemos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291839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💊  Ayuda a que los medicamentos funcionen bien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1605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😢  A veces el hígado se rompe y hay que cambiarlo por uno nuevo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50292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🎁  El nuevo hígado viene de una persona muy generosa: el donante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¿Qué es la app BDTH?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4630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</a:rPr>
              <a:t>Imagina una LIBRETA muy especial
en el móvil del médico...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7432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✏️   Apunta todo lo que pasa durante el trasplante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56616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🔍   Busca información de cualquier paciente al instante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38912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📊   Hace gráficas solas para aprender qué funciona mejor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2120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🔒   Guarda los datos de forma secreta para proteger la intimidad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60350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✈️   Funciona sin internet, en cualquier sitio del mundo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¿Quién da y quién recibe? 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120640" cy="50292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565C0"/>
                </a:solidFill>
              </a:rPr>
              <a:t>🦸 EL DONANTE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Una persona muy buena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00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que ya no necesita su hígado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y lo regala para que otro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3814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2219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La app apunta: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• Su edad y tipo de sangre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902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• Por qué falleció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7433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• Cómo estaba su hígado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58383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• Cuánto tiempo viajó el hígado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474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023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371600"/>
            <a:ext cx="5120640" cy="50292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463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D32"/>
                </a:solidFill>
              </a:rPr>
              <a:t>🤒 EL RECEPTOR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2860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Una persona enferma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7004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cuyo hígado ya no funciona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05409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y que necesita uno nuevo para vivir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4381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2219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La app apunta: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06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• Su enfermedad del hígado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9028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• Qué tan grave está (MELD)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97433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• Cómo fue la operación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358383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• Cómo se recuperó después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¿Cómo lo usa el médico? 👨‍⚕️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731520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5100"/>
                </a:solidFill>
              </a:rPr>
              <a:t>Llega un donante de hígado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5564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</a:rPr>
              <a:t>El médico abre la app y crea un caso nuevo con un código secreto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73152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2️⃣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565C0"/>
                </a:solidFill>
              </a:rPr>
              <a:t>Apunta los datos del donante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1576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</a:rPr>
              <a:t>Puede escribirlos o hacer una FOTO al informe — la app los lee sola!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91839"/>
            <a:ext cx="73152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91839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3️⃣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918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D32"/>
                </a:solidFill>
              </a:rPr>
              <a:t>Hace la operación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75887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</a:rPr>
              <a:t>Apunta la hora exacta: cuánto tiempo estuvo el hígado sin sangre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51959"/>
            <a:ext cx="731520" cy="8229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251959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4️⃣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5195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148C"/>
                </a:solidFill>
              </a:rPr>
              <a:t>Sigue al paciente después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636007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</a:rPr>
              <a:t>Cada día apunta cómo va: análisis, si hubo problemas, cuándo se fue a casa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12079"/>
            <a:ext cx="731520" cy="822960"/>
          </a:xfrm>
          <a:prstGeom prst="rect">
            <a:avLst/>
          </a:prstGeom>
          <a:solidFill>
            <a:srgbClr val="00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212079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5️⃣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21207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6E"/>
                </a:solidFill>
              </a:rPr>
              <a:t>Ve las estadísticas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596127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</a:rPr>
              <a:t>La app hace gráficas automáticas para aprender y mejorar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El gran secreto 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0" i="0">
                <a:solidFill>
                  <a:srgbClr val="FFFFFF"/>
                </a:solidFill>
              </a:rPr>
              <a:t>🕵️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3716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</a:rPr>
              <a:t>Los pacientes tienen derecho a que
su información sea PRIVADA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65176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🙈  La app NUNCA guarda el nombre del paciente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45643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🔢  En su lugar, usa un código secreto: BDT-20260508-001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261104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🗝️   Solo el médico con su PIN puede saber quién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5065776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📵  Los datos NO viajan por internet — están solo en el móvil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5870448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2121"/>
                </a:solidFill>
              </a:rPr>
              <a:t>🧊  Si alguien roba el móvil, no puede leer nada sin el PIN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Las gráficas mágicas 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12121"/>
                </a:solidFill>
              </a:rPr>
              <a:t>¿Recuerdas los dibujos de tu cole que muestran cuántos niños
tienen perro, gato o pez? La app hace lo mismo con los trasplantes: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468880"/>
            <a:ext cx="1737360" cy="2560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91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Cuántos trasplantes
hay cada 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468880"/>
            <a:ext cx="1737360" cy="2560320"/>
          </a:xfrm>
          <a:prstGeom prst="rect">
            <a:avLst/>
          </a:prstGeom>
          <a:solidFill>
            <a:srgbClr val="00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291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Cuántos donantes
son de cada tipo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468880"/>
            <a:ext cx="1737360" cy="25603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291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Qué enfermedades
tienen los pacientes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79" y="2468880"/>
            <a:ext cx="1737360" cy="25603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3291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Qué complicaciones
pasan más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2468880"/>
            <a:ext cx="1737360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❤️‍🩹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3291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Cuántos pacientes
se recuperaron bien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468880"/>
            <a:ext cx="1737360" cy="2560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59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9" y="3291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Si los resultados
mejoran cada año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148C"/>
                </a:solidFill>
              </a:rPr>
              <a:t>Con estas gráficas los médicos aprenden qué hacen bien
y qué pueden mejorar para salvar más vidas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0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¡Sin internet funciona igual! ✈️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3716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6E6E"/>
                </a:solidFill>
              </a:rPr>
              <a:t>La app es como un libro de papel:
siempre funciona, aunque no haya WiFi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560320"/>
            <a:ext cx="4206240" cy="3474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26060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✅ SÍ puede hacer sin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32461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Registrar un caso nuevo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703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Ver estadísticas y gráficas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1605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Buscar pacientes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6177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Exportar a Excel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560320"/>
            <a:ext cx="4206240" cy="3474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26060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⚡ Solo necesita WiFi del hospital para...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32461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Leer fotos con inteligencia artificial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3703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Enviar el Excel al ordenador del hospital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38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¿Qué hemos aprendido hoy?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874519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El hígado es muy importante — a veces hay que cambiarlo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9631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4203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BDTH es la libreta digital del médico de trasplantes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63824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🦸 + 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2095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Guarda datos del donante y del receptor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31335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877055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Los datos están protegidos con un código secreto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9884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54456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Hace gráficas solas para aprender y mejorar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663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✈️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2120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Funciona siempre, aunque no haya internet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3387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❤️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87959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Todo esto es para salvar más vidas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E93D8"/>
                </a:solidFill>
              </a:rPr>
              <a:t>Hospital Gregorio Marañón · Unidad de Trasplante Hepático · Mayo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D1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Garantia de seguridad para el jefe 🛡️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2926080"/>
          </a:xfrm>
          <a:prstGeom prst="rect">
            <a:avLst/>
          </a:prstGeom>
          <a:solidFill>
            <a:srgbClr val="283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0CAF9"/>
                </a:solidFill>
              </a:rPr>
              <a:t>RED INTERNA DEL HOSPITAL (WiFi)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📱
Movil
del medico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109728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CAF9"/>
                </a:solidFill>
              </a:rPr>
              <a:t>──WiFi──&gt;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116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🖥️
Ordenador
del hospital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CAF9"/>
                </a:solidFill>
              </a:rPr>
              <a:t>&lt;──resultado──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📱
Movil
(formulario
relleno)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080"/>
                </a:solidFill>
              </a:rPr>
              <a:t>✗  NINGUNA CONEXION A INTERNET  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NHC nunca en texto plano — convertido en codigo secreto antes de guardarse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91032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Fotos y PDFs procesados en el hospital — jamas viajan a internet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31536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47725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Sin cuenta en la nube, sin Google, sin Amazon, sin Microsoft Azure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98464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604418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Codigo fuente disponible para auditoria del Servicio de Informatica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Cuanto cuesta? 💶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43000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CONCEPTO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</a:rPr>
              <a:t>COSTE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11430000" cy="475488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Desarrollo de la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9659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2E7D32"/>
                </a:solidFill>
              </a:rPr>
              <a:t>0 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95728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4144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Servidor en la nube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414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2E7D32"/>
                </a:solidFill>
              </a:rPr>
              <a:t>0 EUR  (no existe)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71216"/>
            <a:ext cx="11430000" cy="475488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16936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Base de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9169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2E7D32"/>
                </a:solidFill>
              </a:rPr>
              <a:t>0 EUR  (en el movil)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46704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92424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Licencias de 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39242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2E7D32"/>
                </a:solidFill>
              </a:rPr>
              <a:t>0 EUR  (todo open source)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22191"/>
            <a:ext cx="11430000" cy="475488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67911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OCR local (Tesseract)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867911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2E7D32"/>
                </a:solidFill>
              </a:rPr>
              <a:t>0 EUR  (gratis y local)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97679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43399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Mantenimiento anual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343399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212121"/>
                </a:solidFill>
              </a:rPr>
              <a:t>&lt; 10 horas / ano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73167"/>
            <a:ext cx="11430000" cy="475488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18887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OCR con IA (opcional)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818887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E65100"/>
                </a:solidFill>
              </a:rPr>
              <a:t>&lt; 1 EUR / ano  (50 trasplantes)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340095"/>
            <a:ext cx="1143000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85815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TOTAL 5 ANOS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385815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69F0AE"/>
                </a:solidFill>
              </a:rPr>
              <a:t>&lt; 5 EUR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C2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</a:rPr>
              <a:t>Lo que le preocupa al jefe — y la respuesta 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17320"/>
            <a:ext cx="5486400" cy="960120"/>
          </a:xfrm>
          <a:prstGeom prst="rect">
            <a:avLst/>
          </a:prstGeom>
          <a:solidFill>
            <a:srgbClr val="4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</a:rPr>
              <a:t>😰  'Los datos sensibles de los PDFs
pueden llegar a la API de Claude'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486400" cy="960120"/>
          </a:xfrm>
          <a:prstGeom prst="rect">
            <a:avLst/>
          </a:prstGeom>
          <a:solidFill>
            <a:srgbClr val="14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CC"/>
                </a:solidFill>
              </a:rPr>
              <a:t>✅  En modo local (por defecto), los PDFs se procesan
en el ordenador del hospital. Ningun byte sale.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14600"/>
            <a:ext cx="5486400" cy="960120"/>
          </a:xfrm>
          <a:prstGeom prst="rect">
            <a:avLst/>
          </a:prstGeom>
          <a:solidFill>
            <a:srgbClr val="4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5603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</a:rPr>
              <a:t>💸  'Cuanto va a costar esto
cada ano?'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514600"/>
            <a:ext cx="5486400" cy="960120"/>
          </a:xfrm>
          <a:prstGeom prst="rect">
            <a:avLst/>
          </a:prstGeom>
          <a:solidFill>
            <a:srgbClr val="14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CC"/>
                </a:solidFill>
              </a:rPr>
              <a:t>✅  Cero euros de infraestructura.
Si se usa la IA opcional: menos de 1 euro al ano.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11880"/>
            <a:ext cx="5486400" cy="960120"/>
          </a:xfrm>
          <a:prstGeom prst="rect">
            <a:avLst/>
          </a:prstGeom>
          <a:solidFill>
            <a:srgbClr val="4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6576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</a:rPr>
              <a:t>🔓  'Como se que solo mi equipo
accede a los datos?'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611880"/>
            <a:ext cx="5486400" cy="960120"/>
          </a:xfrm>
          <a:prstGeom prst="rect">
            <a:avLst/>
          </a:prstGeom>
          <a:solidFill>
            <a:srgbClr val="14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6576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CC"/>
                </a:solidFill>
              </a:rPr>
              <a:t>✅  Sin backend remoto. Sin cuenta en la nube.
Solo el medico con su movil y su PIN.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709160"/>
            <a:ext cx="5486400" cy="960120"/>
          </a:xfrm>
          <a:prstGeom prst="rect">
            <a:avLst/>
          </a:prstGeom>
          <a:solidFill>
            <a:srgbClr val="4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7548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</a:rPr>
              <a:t>📋  'Cumple el RGPD
y la LOPD?'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709160"/>
            <a:ext cx="5486400" cy="960120"/>
          </a:xfrm>
          <a:prstGeom prst="rect">
            <a:avLst/>
          </a:prstGeom>
          <a:solidFill>
            <a:srgbClr val="14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7548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CC"/>
                </a:solidFill>
              </a:rPr>
              <a:t>✅  Si. Privacidad por diseno (art. 25 RGPD).
NHC nunca en texto plano. Auditable.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El codigo fuente esta disponible para auditoria por el Servicio de Informatica del hospital en cualquier momento.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